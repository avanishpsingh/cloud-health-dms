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pain point. Don't re-justify — Phase 1 already did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left-to-right: ingress, compute, data, serverless,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`app/storage.py` and `app/routers/records.py` briefly during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file tree under `infra/terraform/` and the `terraform plan`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row to HIPAA / DISHA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the recording, you can show the ASG scaling-out instance count in the AWS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sample CloudWatch Logs entry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to estimated on-prem hardware refresh of ~ ₹ 6–10 lakh capex; cloud is OpEx and pay-per-use.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terminal output of `pytest -v` during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video under 8 minutes; speak over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speaks for ~ 60 s on their slice; equal participation is mandated by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verbatim from `report/Phase2_Report.md`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for: "Why not DynamoDB?", "How does Multi-AZ failover work?", "How would you achieve 99.99% (4-nines) instead of 99.9?", "What about WAF?"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2 — Implementation &amp; Demonstration</a:t>
            </a:r>
          </a:p>
          <a:p>
            <a:r>
              <a:t>BITS Pilani · Cloud Computing (CSIZG527) · Group 23</a:t>
            </a:r>
          </a:p>
          <a:p>
            <a:r>
              <a:t>Karan Rawat · Vikas Kumar · Kriti Tripathi · Avanish Pratap Singh</a:t>
            </a:r>
          </a:p>
          <a:p>
            <a:r>
              <a:t>Instructor: Prof. Shwetha Vittal · 02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Recap: Problem &amp; Phase-1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Mid-size hospital chain in India, fragmented on-prem IT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Pain: peak-hour overload, data silos, audit gaps, idle hardware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6 measurable objectives (O1–O6) defined in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Phase-2 Architecture (one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000">
                <a:solidFill>
                  <a:srgbClr val="666666"/>
                </a:solidFill>
                <a:latin typeface="Consolas"/>
              </a:rPr>
              <a:t>Users → Route 53 → ALB → EC2 ASG (private) → RDS PostgreSQL Multi-AZ</a:t>
            </a:r>
            <a:br/>
            <a:r>
              <a:rPr sz="1000">
                <a:solidFill>
                  <a:srgbClr val="666666"/>
                </a:solidFill>
                <a:latin typeface="Consolas"/>
              </a:rPr>
              <a:t>                                ↘</a:t>
            </a:r>
            <a:br/>
            <a:r>
              <a:rPr sz="1000">
                <a:solidFill>
                  <a:srgbClr val="666666"/>
                </a:solidFill>
                <a:latin typeface="Consolas"/>
              </a:rPr>
              <a:t>                                  S3 (KMS) ←─ Lambda ←─ EventBridge cron</a:t>
            </a:r>
            <a:br/>
            <a:r>
              <a:rPr sz="1000">
                <a:solidFill>
                  <a:srgbClr val="666666"/>
                </a:solidFill>
                <a:latin typeface="Consolas"/>
              </a:rPr>
              <a:t>                                                    ↘ SNS → Email/SMS</a:t>
            </a:r>
            <a:br/>
            <a:r>
              <a:rPr sz="1000">
                <a:solidFill>
                  <a:srgbClr val="666666"/>
                </a:solidFill>
                <a:latin typeface="Consolas"/>
              </a:rPr>
              <a:t>Cross-cutting: VPC · IAM · KMS · CloudTrail · CloudWatch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Code: One repo, two backends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Same FastAPI codebase runs Phase 1 (laptop) and Phase 2 (AWS).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Pluggable layers selected by environment variables: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STORAGE_BACKEND=local | s3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DATABASE_URL=sqlite://… | postgresql+psycopg2://…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Storage abstraction: app/storage.py (Protocol + LocalStorage + S3Storage)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Lambda imports the same app/ tree — no code duplication.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Infrastructure as Code (Terraform)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10 .tf files, ~ 600 LOC, single terraform apply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Provisions: VPC + 2 AZs · KMS CMK · S3 + lifecycle · RDS Multi-AZ · ALB +</a:t>
            </a:r>
          </a:p>
          <a:p>
            <a:pPr/>
            <a:r>
              <a:rPr sz="1600">
                <a:solidFill>
                  <a:srgbClr val="222222"/>
                </a:solidFill>
              </a:rPr>
              <a:t>ASG · Lambda + EventBridge + SNS · CloudTrail · CloudWatch alarms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IMDSv2-only EC2; least-privilege IAM; private subnets for data layer.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terraform destroy returns the account to zero spend.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Security &amp; Compliance (O3)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22222"/>
                </a:solidFill>
              </a:rPr>
              <a:t>Control — Implementation</a:t>
            </a:r>
          </a:p>
          <a:p>
            <a:pPr/>
            <a:r>
              <a:rPr sz="1600">
                <a:solidFill>
                  <a:srgbClr val="222222"/>
                </a:solidFill>
              </a:rPr>
              <a:t>Encryption at rest — KMS CMK on RDS, SSE-KMS on S3, log groups, SNS, CloudTrail</a:t>
            </a:r>
          </a:p>
          <a:p>
            <a:pPr/>
            <a:r>
              <a:rPr sz="1600">
                <a:solidFill>
                  <a:srgbClr val="222222"/>
                </a:solidFill>
              </a:rPr>
              <a:t>Encryption in transit — TLS terminated at ALB; SG-restricted ingress</a:t>
            </a:r>
          </a:p>
          <a:p>
            <a:pPr/>
            <a:r>
              <a:rPr sz="1600">
                <a:solidFill>
                  <a:srgbClr val="222222"/>
                </a:solidFill>
              </a:rPr>
              <a:t>AuthN / AuthZ — App-level JWT + RBAC; cloud-level IAM least-privilege</a:t>
            </a:r>
          </a:p>
          <a:p>
            <a:pPr/>
            <a:r>
              <a:rPr sz="1600">
                <a:solidFill>
                  <a:srgbClr val="222222"/>
                </a:solidFill>
              </a:rPr>
              <a:t>Audit — CloudTrail multi-region, log-file validation</a:t>
            </a:r>
          </a:p>
          <a:p>
            <a:pPr/>
            <a:r>
              <a:rPr sz="1600">
                <a:solidFill>
                  <a:srgbClr val="222222"/>
                </a:solidFill>
              </a:rPr>
              <a:t>PHI retention — S3 lifecycle: IA → Glacier → expire @ 7 y</a:t>
            </a:r>
          </a:p>
          <a:p>
            <a:pPr/>
            <a:r>
              <a:rPr sz="1600">
                <a:solidFill>
                  <a:srgbClr val="222222"/>
                </a:solidFill>
              </a:rPr>
              <a:t>Network isolation — Private subnets for EC2 + RDS; SGs least-privilege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Auto-Scaling &amp; Availability (O1, O6)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ASG: min 1, max 3, TargetTracking on avg CPU = 60 %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ALB health check GET / every 30 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RDS Multi-AZ → automated failover, &lt; 60 s RTO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2 CloudWatch alarms (5xx &gt; 5/min, CPU &gt; 80 % for 3 min) → SNS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Demonstrated by ab / wrk load test in the recording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Serverless Reminders (O4)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app/lambda_handlers/appointment_reminder.py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EventBridge cron → Lambda (Python 3.11, 256 MB, 30 s timeout)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Reads RDS for appointments due in next 24 h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Publishes one message per appointment to SNS topic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SNS → Email subscription (configurable via alarm_email Terraform var)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Cost Optimisation (O5)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22222"/>
                </a:solidFill>
              </a:rPr>
              <a:t>Resource — Sizing — ~ Monthly USD</a:t>
            </a:r>
          </a:p>
          <a:p>
            <a:pPr/>
            <a:r>
              <a:rPr sz="1600">
                <a:solidFill>
                  <a:srgbClr val="222222"/>
                </a:solidFill>
              </a:rPr>
              <a:t>EC2 t3.micro × 2 — ASG min=1, desired=2 — $15</a:t>
            </a:r>
          </a:p>
          <a:p>
            <a:pPr/>
            <a:r>
              <a:rPr sz="1600">
                <a:solidFill>
                  <a:srgbClr val="222222"/>
                </a:solidFill>
              </a:rPr>
              <a:t>ALB — Internet-facing — $18</a:t>
            </a:r>
          </a:p>
          <a:p>
            <a:pPr/>
            <a:r>
              <a:rPr sz="1600">
                <a:solidFill>
                  <a:srgbClr val="222222"/>
                </a:solidFill>
              </a:rPr>
              <a:t>RDS db.t3.micro Multi-AZ — 20 GB gp3 — $30</a:t>
            </a:r>
          </a:p>
          <a:p>
            <a:pPr/>
            <a:r>
              <a:rPr sz="1600">
                <a:solidFill>
                  <a:srgbClr val="222222"/>
                </a:solidFill>
              </a:rPr>
              <a:t>S3 + Lambda + CloudWatch + CloudTrail — &lt; $3</a:t>
            </a:r>
          </a:p>
          <a:p>
            <a:pPr/>
            <a:r>
              <a:rPr sz="1600">
                <a:solidFill>
                  <a:srgbClr val="222222"/>
                </a:solidFill>
              </a:rPr>
              <a:t>NAT Gateway — Single, cost-conscious — $32</a:t>
            </a:r>
          </a:p>
          <a:p>
            <a:pPr/>
            <a:r>
              <a:rPr sz="1600">
                <a:solidFill>
                  <a:srgbClr val="222222"/>
                </a:solidFill>
              </a:rPr>
              <a:t>Total — ~$98 / 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29 pytest tests, all green, run in 28 s on a laptop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moto mocks S3 + SNS → no AWS credentials required for CI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Coverage spans business logic AND cloud abstractions: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6 auth · 7 patients · 4 appointments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4 storage · 3 Lambda · 3 logging · 2 upload E2E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Live Demo (recorded video)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22222"/>
                </a:solidFill>
              </a:rPr>
              <a:t>1. terraform apply walk-through (timelapse)</a:t>
            </a:r>
          </a:p>
          <a:p>
            <a:pPr/>
            <a:r>
              <a:rPr sz="1600">
                <a:solidFill>
                  <a:srgbClr val="222222"/>
                </a:solidFill>
              </a:rPr>
              <a:t>2. Open ALB URL → dashboard, login as admin</a:t>
            </a:r>
          </a:p>
          <a:p>
            <a:pPr/>
            <a:r>
              <a:rPr sz="1600">
                <a:solidFill>
                  <a:srgbClr val="222222"/>
                </a:solidFill>
              </a:rPr>
              <a:t>3. Create patient, book appointment, upload PDF (lands in S3)</a:t>
            </a:r>
          </a:p>
          <a:p>
            <a:pPr/>
            <a:r>
              <a:rPr sz="1600">
                <a:solidFill>
                  <a:srgbClr val="222222"/>
                </a:solidFill>
              </a:rPr>
              <a:t>4. AWS Console: S3 object, RDS Performance Insights, CloudWatch Logs Insights query</a:t>
            </a:r>
          </a:p>
          <a:p>
            <a:pPr/>
            <a:r>
              <a:rPr sz="1600">
                <a:solidFill>
                  <a:srgbClr val="222222"/>
                </a:solidFill>
              </a:rPr>
              <a:t>5. Trigger Lambda manually → SNS email arrives</a:t>
            </a:r>
          </a:p>
          <a:p>
            <a:pPr/>
            <a:r>
              <a:rPr sz="1600">
                <a:solidFill>
                  <a:srgbClr val="222222"/>
                </a:solidFill>
              </a:rPr>
              <a:t>6. ab -n 5000 -c 50 http://&lt;alb&gt;/dashboard → ASG scales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Roles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22222"/>
                </a:solidFill>
              </a:rPr>
              <a:t>Member — Phase 2 Contribution</a:t>
            </a:r>
          </a:p>
          <a:p>
            <a:pPr/>
            <a:r>
              <a:rPr sz="1600">
                <a:solidFill>
                  <a:srgbClr val="222222"/>
                </a:solidFill>
              </a:rPr>
              <a:t>Karan Rawat — Architecture, Terraform network.tf / compute_ec2.tf, integration</a:t>
            </a:r>
          </a:p>
          <a:p>
            <a:pPr/>
            <a:r>
              <a:rPr sz="1600">
                <a:solidFill>
                  <a:srgbClr val="222222"/>
                </a:solidFill>
              </a:rPr>
              <a:t>Vikas Kumar — RDS migration, SQLAlchemy review, Lambda data-access layer</a:t>
            </a:r>
          </a:p>
          <a:p>
            <a:pPr/>
            <a:r>
              <a:rPr sz="1600">
                <a:solidFill>
                  <a:srgbClr val="222222"/>
                </a:solidFill>
              </a:rPr>
              <a:t>Kriti Tripathi — Security (KMS / IAM / CloudTrail), report writing, compliance mapping</a:t>
            </a:r>
          </a:p>
          <a:p>
            <a:pPr/>
            <a:r>
              <a:rPr sz="1600">
                <a:solidFill>
                  <a:srgbClr val="222222"/>
                </a:solidFill>
              </a:rPr>
              <a:t>Avanish Pratap Singh — Test suite (29 tests, moto setup), CloudWatch / observability, demo recording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Reflection (rubric-required)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Workplace relevance: mirrors enterprise dev → staging → prod migrations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Concepts learned: IaC, IAM/KMS composition, mocked-AWS testing, cost-as-design-input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Trade-offs: RDS over DynamoDB; single NAT; t3.micro; deferred ACM/WAF — documented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Next iteration: Secrets Manager, App Runner / Fargate, integration smoke tests post-apply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B3D91"/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sz="1400">
                <a:solidFill>
                  <a:srgbClr val="222222"/>
                </a:solidFill>
              </a:rPr>
              <a:t>Repo: https://github.com/avanishpsingh/cloud-health-dms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All deliverables in CC_Project_Implementation23.zip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