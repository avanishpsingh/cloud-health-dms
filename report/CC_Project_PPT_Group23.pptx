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per pain point. Don't re-justify — Phase 1 already did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left-to-right: ingress, compute, data, serverless,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`app/storage.py` and `app/routers/records.py` briefly during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file tree under `infra/terraform/` and the `terraform plan`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each row to HIPAA / DISHA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During the recording, you can show the ASG scaling-out instance count in the AWS console.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 sample CloudWatch Logs entry during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to estimated on-prem hardware refresh of ~ ₹ 6–10 lakh capex; cloud is OpEx and pay-per-use.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terminal output of `pytest -v` during the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member speaks for ~ 60 s on their slice; equal participation is mandated by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 verbatim from `report/Phase2_Report.md` §7.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023360"/>
          </a:xfrm>
          <a:prstGeom prst="rect">
            <a:avLst/>
          </a:prstGeom>
          <a:solidFill>
            <a:srgbClr val="0B2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109728"/>
          </a:xfrm>
          <a:prstGeom prst="rect">
            <a:avLst/>
          </a:prstGeom>
          <a:solidFill>
            <a:srgbClr val="109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Cloud-Native Healthcare DMS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Phase 2 — Implementation &amp;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185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BITS Pilani  ·  Cloud Computing (CSIZG527)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111858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Phase 2 — Implementation &amp;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111858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BITS Pilani · Cloud Computing (CSIZG527) · Group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11858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Karan Rawat · Vikas Kumar · Kriti Tripathi · Avanish Pratap Singh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69280"/>
            <a:ext cx="111858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Instructor: Prof. Shwetha Vittal · 02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Recap: Problem &amp; Phase-1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Mid-size hospital chain in India, fragmented on-prem IT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Pain: peak-hour overload, data silos, audit gaps, idle hardware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6 measurable objectives (O1–O6) defined in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Phase-2 Architecture (one diagram)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85855" cy="164592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11535" cy="1463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100">
                <a:solidFill>
                  <a:srgbClr val="555F6D"/>
                </a:solidFill>
                <a:latin typeface="Consolas"/>
              </a:rPr>
              <a:t>Users → Route 53 → ALB → EC2 ASG (private) → RDS PostgreSQL Multi-AZ</a:t>
            </a:r>
          </a:p>
          <a:p>
            <a:pPr algn="l"/>
            <a:r>
              <a:rPr sz="1100">
                <a:solidFill>
                  <a:srgbClr val="555F6D"/>
                </a:solidFill>
                <a:latin typeface="Consolas"/>
              </a:rPr>
              <a:t>                                ↘</a:t>
            </a:r>
          </a:p>
          <a:p>
            <a:pPr algn="l"/>
            <a:r>
              <a:rPr sz="1100">
                <a:solidFill>
                  <a:srgbClr val="555F6D"/>
                </a:solidFill>
                <a:latin typeface="Consolas"/>
              </a:rPr>
              <a:t>                                  S3 (KMS) ←─ Lambda ←─ EventBridge cron</a:t>
            </a:r>
          </a:p>
          <a:p>
            <a:pPr algn="l"/>
            <a:r>
              <a:rPr sz="1100">
                <a:solidFill>
                  <a:srgbClr val="555F6D"/>
                </a:solidFill>
                <a:latin typeface="Consolas"/>
              </a:rPr>
              <a:t>                                                    ↘ SNS → Email/SMS</a:t>
            </a:r>
          </a:p>
          <a:p>
            <a:pPr algn="l"/>
            <a:r>
              <a:rPr sz="1100">
                <a:solidFill>
                  <a:srgbClr val="555F6D"/>
                </a:solidFill>
                <a:latin typeface="Consolas"/>
              </a:rPr>
              <a:t>Cross-cutting: VPC · IAM · KMS · CloudTrail · CloudWatch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Code: One repo, two backends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Same FastAPI codebase runs Phase 1 (laptop) and Phase 2 (AWS).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Pluggable layers selected by environment variables: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STORAGE_BACKEND=local | s3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DATABASE_URL=sqlite://… | postgresql+psycopg2://…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Storage abstraction: app/storage.py (Protocol + LocalStorage + S3Storage)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Lambda imports the same app/ tree — no code duplication.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Infrastructure as Code (Terraform)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10 .tf files, ~ 600 LOC, single terraform apply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Provisions: VPC + 2 AZs · KMS CMK · S3 + lifecycle · RDS Multi-AZ · ALB 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14015"/>
            <a:ext cx="11185855" cy="5486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800">
                <a:solidFill>
                  <a:srgbClr val="1A1A1A"/>
                </a:solidFill>
                <a:latin typeface="Calibri"/>
              </a:rPr>
              <a:t>ASG · Lambda + EventBridge + SNS · CloudTrail · CloudWatch alarms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16935"/>
            <a:ext cx="11185855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IMDSv2-only EC2; least-privilege IAM; private subnets for data layer.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terraform destroy returns the account to zero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Security &amp; Compliance (O3)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585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756"/>
                <a:gridCol w="783009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Encryption at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KMS CMK on RDS, SSE-KMS on S3, log groups, SNS, CloudTrail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Encryption in transit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TLS terminated at ALB; SG-restricted ingress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AuthN / AuthZ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App-level JWT + RBAC; cloud-level IAM least-privilege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CloudTrail multi-region, log-file validation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PHI retention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S3 lifecycle: IA → Glacier → expire @ 7 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Network isolation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Private subnets for EC2 + RDS; SGs least-privilege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Auto-Scaling &amp; Availability (O1, O6)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ASG: min 1, max 3, TargetTracking on avg CPU = 60 %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ALB health check GET / every 30 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RDS Multi-AZ → automated failover, &lt; 60 s RTO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2 CloudWatch alarms (5xx &gt; 5/min, CPU &gt; 80 % for 3 min) → SNS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Demonstrated by ab / wrk load test in the recording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Serverless Reminders (O4)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app/lambda_handlers/appointment_reminder.py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EventBridge cron → Lambda (Python 3.11, 256 MB, 30 s timeout)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Reads RDS for appointments due in next 24 h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Publishes one message per appointment to SNS topic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SNS → Email subscription (configurable via alarm_email Terraform var)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Cost Optimisation (O5)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585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756"/>
                <a:gridCol w="3915049"/>
                <a:gridCol w="391504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Sizing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~ Monthly USD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EC2 t3.micro ×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ASG min=1, desired=2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$15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ALB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Internet-facing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$18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RDS db.t3.micro Multi-AZ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20 GB gp3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$30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S3 + Lambda + CloudWatch + CloudTrail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&lt; $3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NAT Gateway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Single, cost-conscious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$32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~$98 / mo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Test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24688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29 pytest tests, all green, run in 28 s on a laptop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moto mocks S3 + SNS → no AWS credentials required for CI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Coverage spans business logic AND cloud abstractions: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6 auth · 7 patients · 4 appointments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4 storage · 3 Lambda · 3 logging · 2 upload 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11185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09BC4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83280"/>
            <a:ext cx="111858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Live Demo (recorded video)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Roles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585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756"/>
                <a:gridCol w="783009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 2 Contribution</a:t>
                      </a:r>
                    </a:p>
                  </a:txBody>
                  <a:tcPr marL="73152" marR="73152" marT="36576" marB="36576">
                    <a:solidFill>
                      <a:srgbClr val="0B2E6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Karan Rawat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Architecture, Terraform network.tf / compute_ec2.tf, integration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Vikas Kumar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RDS migration, SQLAlchemy review, Lambda data-access layer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Kriti Tripathi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Security (KMS / IAM / CloudTrail), report writing, compliance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Avanish Pratap Singh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Test suite (29 tests, moto setup), CloudWatch / observability, demo recording</a:t>
                      </a:r>
                    </a:p>
                  </a:txBody>
                  <a:tcPr marL="73152" marR="73152" marT="36576" marB="36576"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164592" cy="77724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65760"/>
            <a:ext cx="108200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0B2E6F"/>
                </a:solidFill>
                <a:latin typeface="Calibri"/>
              </a:rPr>
              <a:t>Reflection (rubric-required)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188720"/>
            <a:ext cx="1097280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85855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Workplace relevance: mirrors enterprise dev → staging → prod migrations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Concepts learned: IaC, IAM/KMS composition, mocked-AWS testing, cost-as-design-input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Trade-offs: RDS over DynamoDB; single NAT; t3.micro; deferred ACM/WAF — documented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09BC4"/>
                </a:solidFill>
                <a:latin typeface="Calibri"/>
              </a:rPr>
              <a:t>▸  </a:t>
            </a:r>
            <a:r>
              <a:rPr sz="1700">
                <a:solidFill>
                  <a:srgbClr val="1A1A1A"/>
                </a:solidFill>
                <a:latin typeface="Calibri"/>
              </a:rPr>
              <a:t>Next iteration: Secrets Manager, App Runner / Fargate, integration smoke tests post-apply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8100"/>
          </a:xfrm>
          <a:prstGeom prst="rect">
            <a:avLst/>
          </a:prstGeom>
          <a:solidFill>
            <a:srgbClr val="10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111858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09BC4"/>
                </a:solidFill>
                <a:latin typeface="Calibri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383280"/>
            <a:ext cx="1118585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55F6D"/>
                </a:solidFill>
                <a:latin typeface="Calibri"/>
              </a:rPr>
              <a:t>Cloud-Native Healthcare DMS  ·  BITS Pilani  ·  Group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555F6D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